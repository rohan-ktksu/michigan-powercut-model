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5643a587334a42" /><Relationship Type="http://schemas.openxmlformats.org/officeDocument/2006/relationships/extended-properties" Target="/docProps/app.xml" Id="R613f71e1c09d4e95" /><Relationship Type="http://schemas.openxmlformats.org/officeDocument/2006/relationships/officeDocument" Target="/ppt/presentation.xml" Id="Racd7097f2fa74b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b05fdb68674735"/>
  </p:sldMasterIdLst>
  <p:notesMasterIdLst>
    <p:notesMasterId xmlns:r="http://schemas.openxmlformats.org/officeDocument/2006/relationships" r:id="Rf79612e1fe724874"/>
  </p:notesMasterIdLst>
  <p:sldIdLst>
    <p:sldId xmlns:r="http://schemas.openxmlformats.org/officeDocument/2006/relationships" id="256" r:id="R65e43edcfe1045f8"/>
    <p:sldId xmlns:r="http://schemas.openxmlformats.org/officeDocument/2006/relationships" id="257" r:id="Rdae6547a0c2e4a98"/>
    <p:sldId xmlns:r="http://schemas.openxmlformats.org/officeDocument/2006/relationships" id="258" r:id="R09a7af1df901433c"/>
    <p:sldId xmlns:r="http://schemas.openxmlformats.org/officeDocument/2006/relationships" id="259" r:id="R459885b07a3341af"/>
    <p:sldId xmlns:r="http://schemas.openxmlformats.org/officeDocument/2006/relationships" id="260" r:id="R8431863918144d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d8a5225a6646f2" /><Relationship Type="http://schemas.openxmlformats.org/officeDocument/2006/relationships/slideMaster" Target="/ppt/slideMasters/slideMaster1.xml" Id="R57b05fdb68674735" /><Relationship Type="http://schemas.openxmlformats.org/officeDocument/2006/relationships/notesMaster" Target="/ppt/notesMasters/notesMaster1.xml" Id="Rf79612e1fe724874" /><Relationship Type="http://schemas.openxmlformats.org/officeDocument/2006/relationships/presProps" Target="/ppt/presProps.xml" Id="R65098dde98e34f3d" /><Relationship Type="http://schemas.openxmlformats.org/officeDocument/2006/relationships/tableStyles" Target="/ppt/tableStyles.xml" Id="R3a0e7522cee243d2" /><Relationship Type="http://schemas.openxmlformats.org/officeDocument/2006/relationships/slide" Target="/ppt/slides/slide1.xml" Id="R65e43edcfe1045f8" /><Relationship Type="http://schemas.openxmlformats.org/officeDocument/2006/relationships/slide" Target="/ppt/slides/slide2.xml" Id="Rdae6547a0c2e4a98" /><Relationship Type="http://schemas.openxmlformats.org/officeDocument/2006/relationships/slide" Target="/ppt/slides/slide3.xml" Id="R09a7af1df901433c" /><Relationship Type="http://schemas.openxmlformats.org/officeDocument/2006/relationships/slide" Target="/ppt/slides/slide4.xml" Id="R459885b07a3341af" /><Relationship Type="http://schemas.openxmlformats.org/officeDocument/2006/relationships/slide" Target="/ppt/slides/slide5.xml" Id="R8431863918144d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820adca2a04c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d2c12d35a84f6a" /><Relationship Type="http://schemas.openxmlformats.org/officeDocument/2006/relationships/notesMaster" Target="/ppt/notesMasters/notesMaster1.xml" Id="R4329037e765e42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6e9c4261c84de2" /><Relationship Type="http://schemas.openxmlformats.org/officeDocument/2006/relationships/notesMaster" Target="/ppt/notesMasters/notesMaster1.xml" Id="Rd05fa3395be446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7d75da42f14f0a" /><Relationship Type="http://schemas.openxmlformats.org/officeDocument/2006/relationships/notesMaster" Target="/ppt/notesMasters/notesMaster1.xml" Id="R82e32231741049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b8f505b460463b" /><Relationship Type="http://schemas.openxmlformats.org/officeDocument/2006/relationships/notesMaster" Target="/ppt/notesMasters/notesMaster1.xml" Id="Re5cec3e78b4147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1aa73b64c44328" /><Relationship Type="http://schemas.openxmlformats.org/officeDocument/2006/relationships/notesMaster" Target="/ppt/notesMasters/notesMaster1.xml" Id="R454bebd558e645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details retrieved from prior project chat. Dataset and metrics from the bundled project results.json and source_audit.json.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EAGLE-I annual source files were checksum-verified against the local Figshare metadata. Weather from 75 Michigan ASOS stations, spatially aggregated; archived seasonal window is approximately May 28 to September 1. Sources: https://doi.org/10.6084/m9.figshare.24237376 and https://mesonet.agron.iastate.edu/request/download.phtml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Weather availability assumes a two-hour delay for observations; actual operational latency was not verified. Missing data remains missing and is handled natively by HistGradientBoosting.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Metrics are from outputs/results.json. The 2024 period had been examined earlier in the project, so it is a reused historical holdout, not a pristine independent test. The 2% false-positive cap was selected on 2023 and is not guaranteed to transfer.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EAGLE-I data archive, https://doi.org/10.6084/m9.figshare.24237376 ; Iowa Environmental Mesonet ASOS data request, https://mesonet.agron.iastate.edu/request/download.phtml . Source audit bundled in project: source_audit.json.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8d18b3ebc8479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db11cc2710404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960819a50b449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b9434b8a40473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0e77edbb16430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7a7433cbd342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61AE08-7F18-48F5-85BE-93BB2353EC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A4585CD-ACE5-4208-BF1F-2A37FC08FF2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213E218-5F9D-490E-AB5F-67899717B4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B9B384-52CF-4ECF-A8F9-6A9455DE36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6C483AC-5135-4055-9C63-E595D5B70D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CFA8B99-B0AD-4E59-8A23-337AE77A28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E19960-D889-4DD7-BEB1-CAAEA94D80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1123659-62C8-4EA1-8779-3BB2A40A57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663A4C-817F-4661-AF94-12E2F2E0B9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7FEA54-EC5B-4E96-882B-3E17DC9169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26f827fbb745b0" /><Relationship Type="http://schemas.openxmlformats.org/officeDocument/2006/relationships/slideLayout" Target="/ppt/slideLayouts/slideLayout1.xml" Id="R77aaa0aaf5594b81" /><Relationship Type="http://schemas.openxmlformats.org/officeDocument/2006/relationships/slideLayout" Target="/ppt/slideLayouts/slideLayout2.xml" Id="R9b54145aa4384426" /><Relationship Type="http://schemas.openxmlformats.org/officeDocument/2006/relationships/slideLayout" Target="/ppt/slideLayouts/slideLayout3.xml" Id="R1d0df632d22b4450" /><Relationship Type="http://schemas.openxmlformats.org/officeDocument/2006/relationships/slideLayout" Target="/ppt/slideLayouts/slideLayout4.xml" Id="R9089206a88d348d2" /><Relationship Type="http://schemas.openxmlformats.org/officeDocument/2006/relationships/slideLayout" Target="/ppt/slideLayouts/slideLayout5.xml" Id="Rea1bf62106ee484f" /><Relationship Type="http://schemas.openxmlformats.org/officeDocument/2006/relationships/slideLayout" Target="/ppt/slideLayouts/slideLayout6.xml" Id="R5fd606c14a4941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aaa0aaf5594b81"/>
    <p:sldLayoutId xmlns:r="http://schemas.openxmlformats.org/officeDocument/2006/relationships" id="2147483650" r:id="R9b54145aa4384426"/>
    <p:sldLayoutId xmlns:r="http://schemas.openxmlformats.org/officeDocument/2006/relationships" id="2147483651" r:id="R1d0df632d22b4450"/>
    <p:sldLayoutId xmlns:r="http://schemas.openxmlformats.org/officeDocument/2006/relationships" id="2147483652" r:id="R9089206a88d348d2"/>
    <p:sldLayoutId xmlns:r="http://schemas.openxmlformats.org/officeDocument/2006/relationships" id="2147483653" r:id="Rea1bf62106ee484f"/>
    <p:sldLayoutId xmlns:r="http://schemas.openxmlformats.org/officeDocument/2006/relationships" id="2147483654" r:id="R5fd606c14a4941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67a53fa86246a1" /><Relationship Type="http://schemas.openxmlformats.org/officeDocument/2006/relationships/notesSlide" Target="/ppt/notesSlides/notesSlide1.xml" Id="Rec5e492845d44b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c830c7b5ff4ce3" /><Relationship Type="http://schemas.openxmlformats.org/officeDocument/2006/relationships/notesSlide" Target="/ppt/notesSlides/notesSlide2.xml" Id="R9b5e84292ab248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1699c274e04c9a" /><Relationship Type="http://schemas.openxmlformats.org/officeDocument/2006/relationships/notesSlide" Target="/ppt/notesSlides/notesSlide3.xml" Id="Rd2da4a2d115e4f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4a114c87dd4a54" /><Relationship Type="http://schemas.openxmlformats.org/officeDocument/2006/relationships/notesSlide" Target="/ppt/notesSlides/notesSlide4.xml" Id="Rc91189f020784c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8017c7c2784acc" /><Relationship Type="http://schemas.openxmlformats.org/officeDocument/2006/relationships/notesSlide" Target="/ppt/notesSlides/notesSlide5.xml" Id="Rd422e053525846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9DCC8C-84C8-4E1E-88FC-AE2A474A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8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7EF20-D04C-4934-85DC-D5D0317E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C7497A-6ED3-4055-A72C-060D8C25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80010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1D17F-90B5-4F0E-B529-C2F37D97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A9DCC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A9DCC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9DCCC"/>
                </a:solidFill>
                <a:latin typeface="Arial"/>
                <a:ea typeface="Arial"/>
                <a:cs typeface="Arial"/>
              </a:rPr>
              <a:t>REVA UNIVERSITY  |  MACHINE LEARNING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256B0-5D74-44A6-BABA-3D8C3F7F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66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92000"/>
              </a:lnSpc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County-level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high-burden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alert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81C1B-0B70-4152-8310-20BFD3CE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81450"/>
            <a:ext cx="642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D4E2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D4E2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4E2DD"/>
                </a:solidFill>
                <a:latin typeface="Arial"/>
                <a:ea typeface="Arial"/>
                <a:cs typeface="Arial"/>
              </a:rPr>
              <a:t>Three-hour horizon using EAGLE-I history and historical weather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A6D088-B902-4694-9C48-BD6C5122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Rohan Sai Gorumutchu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55798A-7288-48F3-B9B6-E8C0B347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0070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D4E2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D4E2D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E2DD"/>
                </a:solidFill>
                <a:latin typeface="Arial"/>
                <a:ea typeface="Arial"/>
                <a:cs typeface="Arial"/>
              </a:rPr>
              <a:t>CSIT A  |  Semester 5  |  SRN R24EJ042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83A6A9-79CC-42C8-B6DE-AA9139DA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4360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A9DCC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9DCC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DCCC"/>
                </a:solidFill>
                <a:latin typeface="Arial"/>
                <a:ea typeface="Arial"/>
                <a:cs typeface="Arial"/>
              </a:rPr>
              <a:t>Machine Learning Mini Project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9FC68D-A305-41B0-BA42-FE042DD2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466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B9DE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B9DED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9DED2"/>
                </a:solidFill>
                <a:latin typeface="Arial"/>
                <a:ea typeface="Arial"/>
                <a:cs typeface="Arial"/>
              </a:rPr>
              <a:t>DATA PERIOD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6903B5-F951-407F-9B12-A99E4943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907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2014–2024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322400-EDDD-49DA-B441-19E13CC3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43250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363,419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A60917-86B2-4E87-9930-3D972888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7190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D4E2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D4E2D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E2DD"/>
                </a:solidFill>
                <a:latin typeface="Arial"/>
                <a:ea typeface="Arial"/>
                <a:cs typeface="Arial"/>
              </a:rPr>
              <a:t>county/time forecast windows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B687F4-0C72-44DE-B1D6-E4268708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577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2024 historical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FB1C2A-717E-4761-9766-A8A74D2C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2387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D4E2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D4E2D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E2DD"/>
                </a:solidFill>
                <a:latin typeface="Arial"/>
                <a:ea typeface="Arial"/>
                <a:cs typeface="Arial"/>
              </a:rPr>
              <a:t>79.5% precision  |  61.0% recall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33876-EDDA-4B25-9006-0F82FD9C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9245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B9DE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B9DED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9DED2"/>
                </a:solidFill>
                <a:latin typeface="Arial"/>
                <a:ea typeface="Arial"/>
                <a:cs typeface="Arial"/>
              </a:rPr>
              <a:t>Research result, not a live outage service</a:t>
            </a:r>
          </a:p>
        </p:txBody>
      </p:sp>
    </p:spTree>
    <p:extLst>
      <p:ext uri="{BB962C8B-B14F-4D97-AF65-F5344CB8AC3E}">
        <p14:creationId xmlns:p14="http://schemas.microsoft.com/office/powerpoint/2010/main" val="13323164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677EBE1-3E8E-483B-8189-F217E675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9A431-5908-4458-876E-959D631C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7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2B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B2B"/>
                </a:solidFill>
                <a:latin typeface="Arial"/>
                <a:ea typeface="Arial"/>
                <a:cs typeface="Arial"/>
              </a:rPr>
              <a:t>A long history, with a strict time split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21499-6C37-4FE2-9DEE-B3D4AB6B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EAGLE-I county readings joined to historical station weather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1A8D1-A739-493E-AA8D-65990822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56753-3D6F-4077-AB64-D7B42C61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Michigan outage research  |  Rohan Sai Gorumutchu  |  CSIT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B3333-C85F-4673-A2F9-A2BA269F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57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36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04894-6497-47D2-96B3-250D20AA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FD4DF-58AD-43EE-AECF-2D5E7EB9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8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BE5FCD-4B86-482A-9092-D8C583BA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363,419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9915A9-1EE8-4AA8-9EBE-EF8751E9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forecast windows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06464A-0D5F-4475-8D5E-AABDFE00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4668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A4127-849C-429E-BF2E-87A19228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4668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E166AC-BC4C-4F05-8D2D-0C9F236E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5811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83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7F7A10-FDA1-4EAF-9F7A-2D3E2910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57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Michigan counties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589EBF-EEEE-43D1-BEF2-967D86A2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668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EC4C11-3F0A-4D89-AD7A-421D58A5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668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735C47-5A46-4EEC-918A-A97B0EF2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811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A2ABB0-413C-4779-8ADF-884D910F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57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model input features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9CD740-510C-48D8-A703-6E4180AA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668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B0574F-BA91-4B65-9A37-655986DE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668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6D72FD-DD61-401C-81B6-C1C0D6B2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811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2014–24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B5D4F1-196E-4F28-A76F-19716F3B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57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data coverage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15079A-FD89-45FB-8CB0-0D66E2B5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7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72B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B2B"/>
                </a:solidFill>
                <a:latin typeface="Arial"/>
                <a:ea typeface="Arial"/>
                <a:cs typeface="Arial"/>
              </a:rPr>
              <a:t>Forecast windows by year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7EE7A6-6646-42E5-B3DD-1433B3EB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13097"/>
            <a:ext cx="666750" cy="106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8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8B26B7-0EE8-4C72-9919-C7EF11F7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4972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361"/>
                </a:solidFill>
                <a:latin typeface="Arial"/>
                <a:ea typeface="Arial"/>
                <a:cs typeface="Arial"/>
              </a:rPr>
              <a:t>3.4k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7F1097-CDD4-4D01-A2FA-96008F7F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95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2014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F44551-3C2E-4543-873A-97EFDEFC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035283"/>
            <a:ext cx="666750" cy="7843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8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4D73C7-875E-476B-B55B-D0D73975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797158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361"/>
                </a:solidFill>
                <a:latin typeface="Arial"/>
                <a:ea typeface="Arial"/>
                <a:cs typeface="Arial"/>
              </a:rPr>
              <a:t>24.8k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8A9F16-3918-4CC0-B522-57C44F12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895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2015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ED296E-3DA9-4900-85E9-DA9C7AB7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459755"/>
            <a:ext cx="666750" cy="3598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8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02262E-8F4B-4A70-A2EA-AFA8F81E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2163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361"/>
                </a:solidFill>
                <a:latin typeface="Arial"/>
                <a:ea typeface="Arial"/>
                <a:cs typeface="Arial"/>
              </a:rPr>
              <a:t>11.4k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B3C5D9-DCC4-46B7-AA1B-E8B2FA9F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895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2016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EA181C-3E6A-4C3C-AE14-B34D761F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974563"/>
            <a:ext cx="666750" cy="8450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8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72BE1-D3E4-4ED7-BA47-593474B6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736438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361"/>
                </a:solidFill>
                <a:latin typeface="Arial"/>
                <a:ea typeface="Arial"/>
                <a:cs typeface="Arial"/>
              </a:rPr>
              <a:t>26.7k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4153B6-0EF9-4527-8205-F0333B47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95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2017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831778-D22F-4421-BFB0-FDF2DE25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93784"/>
            <a:ext cx="666750" cy="11258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8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3CA976-2DF4-4A71-986F-8516461F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55659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361"/>
                </a:solidFill>
                <a:latin typeface="Arial"/>
                <a:ea typeface="Arial"/>
                <a:cs typeface="Arial"/>
              </a:rPr>
              <a:t>35.6k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17A8BB-AC48-4F93-B8DC-F51D499D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895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2018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BA3006-81CD-4856-9405-BB3520B4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520505"/>
            <a:ext cx="666750" cy="1299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8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82F862-C722-4A18-BE27-7932E8D4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28238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361"/>
                </a:solidFill>
                <a:latin typeface="Arial"/>
                <a:ea typeface="Arial"/>
                <a:cs typeface="Arial"/>
              </a:rPr>
              <a:t>41.1k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E7F370-21F8-4149-8A9E-0BE7D40D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895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2019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BF1127-7D4B-4D1E-B804-4CD50EF4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31789"/>
            <a:ext cx="666750" cy="1287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8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8C5D52-B2A5-432A-B094-E2BE7201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93664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361"/>
                </a:solidFill>
                <a:latin typeface="Arial"/>
                <a:ea typeface="Arial"/>
                <a:cs typeface="Arial"/>
              </a:rPr>
              <a:t>40.7k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842D75F-B88A-4559-BE8B-E1587844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895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2020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55A34EF-7674-408B-AF3F-306B16AD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429251"/>
            <a:ext cx="666750" cy="13903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8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D16E6A1-BE64-4FAD-8BF2-3855BD4D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91126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361"/>
                </a:solidFill>
                <a:latin typeface="Arial"/>
                <a:ea typeface="Arial"/>
                <a:cs typeface="Arial"/>
              </a:rPr>
              <a:t>44.0k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C4CBA67-39DD-4A47-99B7-093FB17C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895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2021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1EF1CF3-2CFF-43CC-8524-2881F69E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01973"/>
            <a:ext cx="666750" cy="14176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8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1C2E0D8-2638-478E-9418-1F203FA1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3848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361"/>
                </a:solidFill>
                <a:latin typeface="Arial"/>
                <a:ea typeface="Arial"/>
                <a:cs typeface="Arial"/>
              </a:rPr>
              <a:t>44.9k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E3E61D-B10B-42DF-9D08-A2297FEE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895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2022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0574FAC-311C-4E77-969A-53F48FE1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397137"/>
            <a:ext cx="666750" cy="142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FF09609-6C4C-441E-BED2-664A7254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159012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361"/>
                </a:solidFill>
                <a:latin typeface="Arial"/>
                <a:ea typeface="Arial"/>
                <a:cs typeface="Arial"/>
              </a:rPr>
              <a:t>45.0k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A5EE35A-8138-433D-AB37-492CCBF2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895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2023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110C9AE-CBFC-48B3-A3D1-523C97D7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371850"/>
            <a:ext cx="666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5906AE7-868B-4488-BDF0-32CB3594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1337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361"/>
                </a:solidFill>
                <a:latin typeface="Arial"/>
                <a:ea typeface="Arial"/>
                <a:cs typeface="Arial"/>
              </a:rPr>
              <a:t>45.8k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FAC3134-8057-4260-B811-06EAF60D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895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2024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7711430-BB31-49D9-8E47-D36A4FC7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8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DF8A407-C70F-4EFF-BD04-BF89348C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76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Train 2014–2022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5C67FBF-348C-404E-BDA4-4A99B27D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34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3DCCBB6-E8AF-4503-8154-95BC5FEB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276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Threshold: 2023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67260E6-2A30-469B-AAAF-526666DC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34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F2435D2-05F7-4F37-A092-F29519F6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276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Test: 2024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0B4AA72-5B86-4098-9978-9AB16D11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81600"/>
            <a:ext cx="4229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A27B2B7-520C-49BB-9738-16E7FE7C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578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B2B"/>
                </a:solidFill>
                <a:latin typeface="Arial"/>
                <a:ea typeface="Arial"/>
                <a:cs typeface="Arial"/>
              </a:rPr>
              <a:t>2014 coverage begins on November 1, so that first training year is partial.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7F6B26D-A471-4CDC-8D1C-B82FA525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B34D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34D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34D38"/>
                </a:solidFill>
                <a:latin typeface="Arial"/>
                <a:ea typeface="Arial"/>
                <a:cs typeface="Arial"/>
              </a:rPr>
              <a:t>Weather archive coverage is seasonal (late May through August), not full-year.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6C6CF26-5FE0-47AA-8B76-4E577AA7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Sources: EAGLE-I outage archive; Iowa Environmental Mesonet ASOS observations.</a:t>
            </a:r>
          </a:p>
        </p:txBody>
      </p:sp>
    </p:spTree>
    <p:extLst>
      <p:ext uri="{BB962C8B-B14F-4D97-AF65-F5344CB8AC3E}">
        <p14:creationId xmlns:p14="http://schemas.microsoft.com/office/powerpoint/2010/main" val="5938648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580BA9-FAAE-4FB9-BDD9-50750A51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0D4013-2F7F-4EB3-A609-DDD11EC3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7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2B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B2B"/>
                </a:solidFill>
                <a:latin typeface="Arial"/>
                <a:ea typeface="Arial"/>
                <a:cs typeface="Arial"/>
              </a:rPr>
              <a:t>How the model turns history into an alert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D0C31-E4CA-44EE-976A-E53A1FEA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The target describes a high-burden county window, not the start of a household outage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3069AB-87C2-4E20-82E0-AA32E4B3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ACC273-F738-4792-ABDE-B1E43BBE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Michigan outage research  |  Rohan Sai Gorumutchu  |  CSIT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4F058-7B3A-4253-82D5-BE6F96DD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57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36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9F507-0267-4A3C-943D-CB4C19A0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2381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3F222E-D787-454D-B163-69A3FAA5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8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929A2A-AFE5-4F84-B9EC-966A3FFD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7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2B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B2B"/>
                </a:solidFill>
                <a:latin typeface="Arial"/>
                <a:ea typeface="Arial"/>
                <a:cs typeface="Arial"/>
              </a:rPr>
              <a:t>1  Align sources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7E1F31-7657-4C36-BA10-830A3143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0764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Quarter-hour EAGLE-I county readings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Hourly ASOS weather observations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367677-990F-434B-A84E-74DEB152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527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209483-C340-4E44-BEC6-1C9F830C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86075"/>
            <a:ext cx="76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FE81AC-4FB7-4C33-B1F0-D8B39A74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81200"/>
            <a:ext cx="2381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B31ADA-0E3C-4189-85EA-E4F6FAE4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812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8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C96F50-C5A8-4C36-86D6-0A0193E9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098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7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2B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B2B"/>
                </a:solidFill>
                <a:latin typeface="Arial"/>
                <a:ea typeface="Arial"/>
                <a:cs typeface="Arial"/>
              </a:rPr>
              <a:t>2  Clean &amp; engineer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911E56-3D97-4898-8439-49258D4F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81300"/>
            <a:ext cx="20764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Complete-hour checks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Weather lags and storm codes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Past outage summaries and calendar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36AE91-AC66-498A-8CEC-71D20989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527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D9AA60-1B54-4FD5-8819-7A8E689A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86075"/>
            <a:ext cx="76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E0FF71-6564-424C-A520-45FFD064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81200"/>
            <a:ext cx="2381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3A7C83-FE01-4D1A-B4CC-C66AEE01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812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0EFA1A-A2F4-428F-8BF4-5BBDDA40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98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7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2B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B2B"/>
                </a:solidFill>
                <a:latin typeface="Arial"/>
                <a:ea typeface="Arial"/>
                <a:cs typeface="Arial"/>
              </a:rPr>
              <a:t>3  Label next 3 hours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1D3A01-C8D6-4D1F-95CC-9B4541A7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81300"/>
            <a:ext cx="20764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County training-period 90th percentile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Positive if any next-hour count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reaches that county cutoff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E81DCE-999E-4A64-A8ED-61F1D45A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527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3A70AE-F085-4104-B7C9-268CA3E9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86075"/>
            <a:ext cx="76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121EB5-2410-4AB2-B714-E536F954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81200"/>
            <a:ext cx="2381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735895-5BA2-4695-A1FF-26D9358D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812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8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9035F9-EE9C-48A2-AC1B-46E0103F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098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7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2B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B2B"/>
                </a:solidFill>
                <a:latin typeface="Arial"/>
                <a:ea typeface="Arial"/>
                <a:cs typeface="Arial"/>
              </a:rPr>
              <a:t>4  Train &amp; evaluate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38A560-C5CF-42DD-B17A-BBA9F392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81300"/>
            <a:ext cx="20764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Histogram Gradient Boosting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Threshold selected on 2023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Fixed historical test on 2024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B30DDF-0998-4ECB-8E78-6FE9088D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7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72B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B2B"/>
                </a:solidFill>
                <a:latin typeface="Arial"/>
                <a:ea typeface="Arial"/>
                <a:cs typeface="Arial"/>
              </a:rPr>
              <a:t>Input groups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F68DC0-1497-4E23-B21E-C6CE1D46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Weather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533069-AF75-4776-A09F-B87D52F7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00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temperature, gust, precipitation, pressure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977910-40A7-4B6F-B45B-0B993F93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101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E28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28A3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28A36"/>
                </a:solidFill>
                <a:latin typeface="Arial"/>
                <a:ea typeface="Arial"/>
                <a:cs typeface="Arial"/>
              </a:rPr>
              <a:t>Storm signals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C34354-0730-4E30-9EBF-D772CCB4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57800"/>
            <a:ext cx="2400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reported thunderstorm, squall, heavy rain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6913EA-4445-48E2-8D16-EE12B3DB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101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Outage history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AF5B33-6990-452B-9495-874B5939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57800"/>
            <a:ext cx="2400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recent count, 6–48 hour summaries, coverage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DEAC62-D506-46F6-8F08-A3F6C9B1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0101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E28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28A3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28A36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C21C46-8B71-4C00-902C-A37F58C9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257800"/>
            <a:ext cx="2400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county location, local hour, weekday, month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5917CD-F21F-49F4-B4AA-BEC817FE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NWS warning records were omitted because verified year-complete warning data was unavailable.</a:t>
            </a:r>
          </a:p>
        </p:txBody>
      </p:sp>
    </p:spTree>
    <p:extLst>
      <p:ext uri="{BB962C8B-B14F-4D97-AF65-F5344CB8AC3E}">
        <p14:creationId xmlns:p14="http://schemas.microsoft.com/office/powerpoint/2010/main" val="16285542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45116D-C1FA-4E76-904A-164B3E97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B7A58-7057-4848-BB01-142885F7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7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2B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B2B"/>
                </a:solidFill>
                <a:latin typeface="Arial"/>
                <a:ea typeface="Arial"/>
                <a:cs typeface="Arial"/>
              </a:rPr>
              <a:t>2024 test: strong precision, moderate event coverage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C7B2F-7CD3-48AC-B315-EE60F591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Threshold was fixed using 2023 only; scores are retrospective and uncalibrated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23874-13BF-4C38-8429-709A159C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31AD30-A24A-4D47-8A38-95E6D919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Michigan outage research  |  Rohan Sai Gorumutchu  |  CSIT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AAAF2-FBE1-4666-9FC9-D650EFBD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57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36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14A34-E3F8-4DF7-BF95-5250CBCD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6361"/>
                </a:solidFill>
                <a:latin typeface="Arial"/>
                <a:ea typeface="Arial"/>
                <a:cs typeface="Arial"/>
              </a:rPr>
              <a:t>Precision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1B859-F0E0-4981-9911-7CC23D7F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79.5%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D4B608-7B71-451A-8A8C-AEA525AB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8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356519-3169-4AB7-963A-5F326CF0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1741646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AE065D-ED7A-41D7-B8A7-AE21E7D2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621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6361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0271F8-CD08-4F64-849C-8056E9F2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478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E28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E28A3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28A36"/>
                </a:solidFill>
                <a:latin typeface="Arial"/>
                <a:ea typeface="Arial"/>
                <a:cs typeface="Arial"/>
              </a:rPr>
              <a:t>61.0%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08790A-1FB8-4711-99F8-052C5BFA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336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8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4645D5-64CD-4561-9524-32647150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33650"/>
            <a:ext cx="133635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3DD51D-6547-4726-87C9-A0019412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621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6361"/>
                </a:solidFill>
                <a:latin typeface="Arial"/>
                <a:ea typeface="Arial"/>
                <a:cs typeface="Arial"/>
              </a:rPr>
              <a:t>F1 score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2A065B-AD9F-4DFE-85D4-B1E92149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478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39A8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39A88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9A88E"/>
                </a:solidFill>
                <a:latin typeface="Arial"/>
                <a:ea typeface="Arial"/>
                <a:cs typeface="Arial"/>
              </a:rPr>
              <a:t>69.0%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813B0D-1147-4991-B8B6-B1DA113B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336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8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CFF806-DCBE-4916-B087-24B9B4C8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33650"/>
            <a:ext cx="151161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8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DBAA4B-CB85-46EC-9765-F2F94DC3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621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6361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A5A13E-3CEC-47F2-A9F5-176B4DE8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478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72B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B2B"/>
                </a:solidFill>
                <a:latin typeface="Arial"/>
                <a:ea typeface="Arial"/>
                <a:cs typeface="Arial"/>
              </a:rPr>
              <a:t>93.8%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22C7C5-3364-41B9-9B5A-ED3A3CE9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336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8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97D7EB-5CAD-46CB-9FB7-5A65A879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33650"/>
            <a:ext cx="2054924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8D161C-ED5E-419A-99AA-673206C6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7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2B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B2B"/>
                </a:solidFill>
                <a:latin typeface="Arial"/>
                <a:ea typeface="Arial"/>
                <a:cs typeface="Arial"/>
              </a:rPr>
              <a:t>What those scores mean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F78104-B031-46E5-9C56-9DFD0F7C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4953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8D6B72-C263-4ACC-B664-86E2467B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3,980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C58BC3-906C-406E-B4D7-DB55E9C3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38625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model alerts among 45,804 test windows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520B31-F70E-4A77-A266-684DF525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E28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E28A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28A36"/>
                </a:solidFill>
                <a:latin typeface="Arial"/>
                <a:ea typeface="Arial"/>
                <a:cs typeface="Arial"/>
              </a:rPr>
              <a:t>815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8D2FD2-0C7D-479F-B52B-6CE15FF4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958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false alerts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F954E7-4829-4390-BBC4-A8B04798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672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B34D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B34D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34D38"/>
                </a:solidFill>
                <a:latin typeface="Arial"/>
                <a:ea typeface="Arial"/>
                <a:cs typeface="Arial"/>
              </a:rPr>
              <a:t>2,024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F28EE8-7373-47F7-BCEE-33D3443B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9582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missed positives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DCF0BE-67A7-4BC5-AB37-DB5CC665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81400"/>
            <a:ext cx="5391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4B2E00-5836-4F6B-B404-99E84286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100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361"/>
                </a:solidFill>
                <a:latin typeface="Arial"/>
                <a:ea typeface="Arial"/>
                <a:cs typeface="Arial"/>
              </a:rPr>
              <a:t>Average precision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8012EB-32AA-486B-A3AF-3F80E9CD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95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0.733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DE41C7-0688-4C17-A6B4-CA040B24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100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361"/>
                </a:solidFill>
                <a:latin typeface="Arial"/>
                <a:ea typeface="Arial"/>
                <a:cs typeface="Arial"/>
              </a:rPr>
              <a:t>ROC AUC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9A3058-AAB7-407A-AECB-5529C8E6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0.889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275F0B-CB5D-400C-8AA2-7045989B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Validation false-positive rate: 2.00%  |  2024 test false-positive rate: 2.01%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A8B5F9-3EF0-4BCD-ADB3-63085E6F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Precision is the share of alerts that matched the high-burden label. Recall is the share of positive windows detected.</a:t>
            </a:r>
          </a:p>
        </p:txBody>
      </p:sp>
    </p:spTree>
    <p:extLst>
      <p:ext uri="{BB962C8B-B14F-4D97-AF65-F5344CB8AC3E}">
        <p14:creationId xmlns:p14="http://schemas.microsoft.com/office/powerpoint/2010/main" val="8438097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E1C00B3-CEB9-4DC3-81E4-100FC37F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9CBF8-4700-4154-9CB8-55E5B79F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7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2B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B2B"/>
                </a:solidFill>
                <a:latin typeface="Arial"/>
                <a:ea typeface="Arial"/>
                <a:cs typeface="Arial"/>
              </a:rPr>
              <a:t>Examples and what the model can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DF9D9-936C-4134-9559-DCFC80EE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Selected from the 2024 test by score alone; actual outcome shown for retrospective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C56AA-A94A-4D0F-B2C8-78A7DC05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80AE9A-A5A3-4EBC-A8B5-8F4A0355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Michigan outage research  |  Rohan Sai Gorumutchu  |  CSIT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5A4DC-0F36-4E47-94A8-99F6E34F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57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36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1FE06-9349-45D6-83A7-422B1530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71625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127C9A-FEB3-492F-9AED-BC4EAFFE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Issue time (UTC)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43BA63-2FA2-4F57-BE4B-5986E245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571625"/>
            <a:ext cx="1857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1B7FF1-8FB2-4AB4-812E-58042C3E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581150"/>
            <a:ext cx="1704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County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340615-158C-445B-AF2B-0E098B94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571625"/>
            <a:ext cx="1381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EA9B57-822D-4B73-B7B0-39884C3F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581150"/>
            <a:ext cx="1228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 score*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D6E45D-6C67-4494-822E-AB770464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571625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413CF3-DEE8-4821-895F-37DDF57D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8115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6CC9B7-E6D8-41E3-A6A3-A074B0E3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571625"/>
            <a:ext cx="2238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586F46-F9CA-4508-BD56-B0C395FC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81150"/>
            <a:ext cx="2085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Actual label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20BB0A-7027-491E-9127-00B7B30F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14525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1CBBF4-1665-4960-B7C8-0A85F916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B2B"/>
                </a:solidFill>
                <a:latin typeface="Arial"/>
                <a:ea typeface="Arial"/>
                <a:cs typeface="Arial"/>
              </a:rPr>
              <a:t>2024-06-26 06:00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AECD98-8CF0-476B-B8D7-329A4901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14525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01015C-DB0E-4939-A425-B105BF1D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33575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B2B"/>
                </a:solidFill>
                <a:latin typeface="Arial"/>
                <a:ea typeface="Arial"/>
                <a:cs typeface="Arial"/>
              </a:rPr>
              <a:t>Muskegon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6BA0E3-0B44-4FFC-B92F-8CE8518A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91452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8F2631-1F98-40A7-9E00-94682579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933575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B2B"/>
                </a:solidFill>
                <a:latin typeface="Arial"/>
                <a:ea typeface="Arial"/>
                <a:cs typeface="Arial"/>
              </a:rPr>
              <a:t>0.998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0314B1-BA59-4EDB-9B47-C77A5985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14525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41E6EF-0629-41C2-BB55-2C10DD69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33575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Alert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0EB498-F4E4-4C7B-838E-ADC3C4FD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14525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98C3FE-4684-4758-BE25-430CFC8F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33575"/>
            <a:ext cx="2085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B2B"/>
                </a:solidFill>
                <a:latin typeface="Arial"/>
                <a:ea typeface="Arial"/>
                <a:cs typeface="Arial"/>
              </a:rPr>
              <a:t>High burden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402D8E-E8AD-433F-906C-4ABD51FA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52675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899C07-5305-4D12-9AFB-937824D6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7172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B2B"/>
                </a:solidFill>
                <a:latin typeface="Arial"/>
                <a:ea typeface="Arial"/>
                <a:cs typeface="Arial"/>
              </a:rPr>
              <a:t>2024-08-28 18:00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586DAC-591B-4799-8D4A-F51FCA0F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52675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12F4A0-A846-479A-909A-1F2814ED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71725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B2B"/>
                </a:solidFill>
                <a:latin typeface="Arial"/>
                <a:ea typeface="Arial"/>
                <a:cs typeface="Arial"/>
              </a:rPr>
              <a:t>Clare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F9A3B3-1CA0-4C4C-AC1F-09DD2B33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35267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5FF6EC-1BC3-4AB8-83AE-4A529112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371725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B2B"/>
                </a:solidFill>
                <a:latin typeface="Arial"/>
                <a:ea typeface="Arial"/>
                <a:cs typeface="Arial"/>
              </a:rPr>
              <a:t>0.998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DF2701-7785-4F96-A0D8-0959B61E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52675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ED62D0-B9B9-4435-A3EE-2156EA70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71725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Alert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0D1449-7BDC-4F1A-AA51-365C1974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52675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70C14B-E59B-4F26-9B46-58734521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71725"/>
            <a:ext cx="2085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B2B"/>
                </a:solidFill>
                <a:latin typeface="Arial"/>
                <a:ea typeface="Arial"/>
                <a:cs typeface="Arial"/>
              </a:rPr>
              <a:t>High burden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89DA48-64C3-4400-A3EC-CC35F555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90825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E59C4D-489B-46D6-9243-2EABBA94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98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B2B"/>
                </a:solidFill>
                <a:latin typeface="Arial"/>
                <a:ea typeface="Arial"/>
                <a:cs typeface="Arial"/>
              </a:rPr>
              <a:t>2024-06-26 09:00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DF2BF4-B413-4A66-AA04-B3A47848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90825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5E17F0-B01D-4613-AEC9-3E14B6C9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09875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B2B"/>
                </a:solidFill>
                <a:latin typeface="Arial"/>
                <a:ea typeface="Arial"/>
                <a:cs typeface="Arial"/>
              </a:rPr>
              <a:t>Muskegon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A855A9-7DEC-47CE-985C-B8A95E58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79082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3A3B95-1B97-447D-86B3-89FA15A7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09875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B2B"/>
                </a:solidFill>
                <a:latin typeface="Arial"/>
                <a:ea typeface="Arial"/>
                <a:cs typeface="Arial"/>
              </a:rPr>
              <a:t>0.998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2D1164-0F0F-43C4-945A-DE2C7DA1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90825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B625BAC-1A34-4545-ACE6-2B5DAF2F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09875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6B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B5B"/>
                </a:solidFill>
                <a:latin typeface="Arial"/>
                <a:ea typeface="Arial"/>
                <a:cs typeface="Arial"/>
              </a:rPr>
              <a:t>Alert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7FE2436-E598-41DA-998E-BB2D015C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90825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6C058EB-F521-4537-BF90-C857AB3B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09875"/>
            <a:ext cx="2085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B2B"/>
                </a:solidFill>
                <a:latin typeface="Arial"/>
                <a:ea typeface="Arial"/>
                <a:cs typeface="Arial"/>
              </a:rPr>
              <a:t>High burden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30EFBFA-4666-4AA6-A6B8-87CC6150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28975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A19046F-3D61-4F5C-88F6-4F1275DF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4802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B2B"/>
                </a:solidFill>
                <a:latin typeface="Arial"/>
                <a:ea typeface="Arial"/>
                <a:cs typeface="Arial"/>
              </a:rPr>
              <a:t>2024-07-10 09:00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D05A74C-381B-4300-A7DD-016980F5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28975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90EA5D-06C6-4975-8E25-3C579091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48025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B2B"/>
                </a:solidFill>
                <a:latin typeface="Arial"/>
                <a:ea typeface="Arial"/>
                <a:cs typeface="Arial"/>
              </a:rPr>
              <a:t>Allegan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FCC37D-6A7C-4956-A57D-552BC84C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22897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CDBACE2-3136-4632-9FA9-BA9C2498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48025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B2B"/>
                </a:solidFill>
                <a:latin typeface="Arial"/>
                <a:ea typeface="Arial"/>
                <a:cs typeface="Arial"/>
              </a:rPr>
              <a:t>0.774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E2CCAFF-5819-4A0F-87ED-8A0CBC3E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28975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3D75CF8-3A76-4B39-B0A3-3CC29C08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48025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361"/>
                </a:solidFill>
                <a:latin typeface="Arial"/>
                <a:ea typeface="Arial"/>
                <a:cs typeface="Arial"/>
              </a:rPr>
              <a:t>No alert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8CE729C-F2AD-4D23-B0D8-62A3A6DB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28975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E50260F-121D-46CE-B496-91FB0351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48025"/>
            <a:ext cx="2085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B2B"/>
                </a:solidFill>
                <a:latin typeface="Arial"/>
                <a:ea typeface="Arial"/>
                <a:cs typeface="Arial"/>
              </a:rPr>
              <a:t>No high burden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A5C8E44-D6F1-4D83-B6F2-620F2831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67125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678959C-020A-4A00-9C65-B9BA6A02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861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B2B"/>
                </a:solidFill>
                <a:latin typeface="Arial"/>
                <a:ea typeface="Arial"/>
                <a:cs typeface="Arial"/>
              </a:rPr>
              <a:t>2024-03-09 03:00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0D7E5FF-CD87-4837-B245-C67B65BF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667125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4E9EED6-42D5-4A68-B29C-5C28276D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86175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B2B"/>
                </a:solidFill>
                <a:latin typeface="Arial"/>
                <a:ea typeface="Arial"/>
                <a:cs typeface="Arial"/>
              </a:rPr>
              <a:t>Wayne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ECFB4C5-C1F1-4533-9286-DCAD3843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66712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4607F84-BB73-4D8E-864E-8E721CE6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686175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B2B"/>
                </a:solidFill>
                <a:latin typeface="Arial"/>
                <a:ea typeface="Arial"/>
                <a:cs typeface="Arial"/>
              </a:rPr>
              <a:t>0.774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4823955-C980-4B62-A547-7107100C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67125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48DCD60-1B4D-4C9A-B537-6FA33781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86175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361"/>
                </a:solidFill>
                <a:latin typeface="Arial"/>
                <a:ea typeface="Arial"/>
                <a:cs typeface="Arial"/>
              </a:rPr>
              <a:t>No alert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47E5E18-D58F-4A32-986F-9BB3BC8A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67125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E43DCBD-ACD0-46A3-B5AE-6CB221E6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86175"/>
            <a:ext cx="2085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B2B"/>
                </a:solidFill>
                <a:latin typeface="Arial"/>
                <a:ea typeface="Arial"/>
                <a:cs typeface="Arial"/>
              </a:rPr>
              <a:t>No high burden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C5FB68A-CC5E-4B34-856B-6858FCC4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05275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6B87DB7-9AA1-4A6F-BF1C-BBA58FB3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2432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B2B"/>
                </a:solidFill>
                <a:latin typeface="Arial"/>
                <a:ea typeface="Arial"/>
                <a:cs typeface="Arial"/>
              </a:rPr>
              <a:t>2024-11-11 15:00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4A1339D-6A7F-4F52-B473-7A0A371C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105275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A3342FF-B2CA-4E23-AEC8-6C027B4B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124325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B2B"/>
                </a:solidFill>
                <a:latin typeface="Arial"/>
                <a:ea typeface="Arial"/>
                <a:cs typeface="Arial"/>
              </a:rPr>
              <a:t>Marquette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F234B83-DA56-4BCD-9D39-064BA44A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10527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68A0842-AB68-4C2B-A1E1-D629119A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124325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B2B"/>
                </a:solidFill>
                <a:latin typeface="Arial"/>
                <a:ea typeface="Arial"/>
                <a:cs typeface="Arial"/>
              </a:rPr>
              <a:t>0.774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1C7885C-0359-4A29-8C0F-85686FF7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05275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1559D3C-80F4-425E-ADC3-3F071C68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24325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361"/>
                </a:solidFill>
                <a:latin typeface="Arial"/>
                <a:ea typeface="Arial"/>
                <a:cs typeface="Arial"/>
              </a:rPr>
              <a:t>No alert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DF30827-3BFB-4A12-8497-948449E7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05275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4E968DB-6D0B-4FA9-BEC6-D44070A2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24325"/>
            <a:ext cx="2085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B2B"/>
                </a:solidFill>
                <a:latin typeface="Arial"/>
                <a:ea typeface="Arial"/>
                <a:cs typeface="Arial"/>
              </a:rPr>
              <a:t>High burden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4D8A7F8-8863-4BAB-BD99-A58A10EB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* Uncalibrated model score; not a real-world outage probability.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E1A4990-883E-407D-AE45-1514A152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67300"/>
            <a:ext cx="4933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09F279B-4D27-4807-BAE5-C6F6C1AE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7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72B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B2B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7BE4262-BBC5-4FA6-A42A-7B585CDD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2445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72B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B2B"/>
                </a:solidFill>
                <a:latin typeface="Arial"/>
                <a:ea typeface="Arial"/>
                <a:cs typeface="Arial"/>
              </a:rPr>
              <a:t>County-level burden signal for the next 3 hours. It does not identify a household outage or cause.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1F06A2A-CC55-4434-B2E7-232C95DC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067300"/>
            <a:ext cx="561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63674C7-FDED-440A-A0C5-9CD93098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1625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7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72B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B2B"/>
                </a:solidFill>
                <a:latin typeface="Arial"/>
                <a:ea typeface="Arial"/>
                <a:cs typeface="Arial"/>
              </a:rPr>
              <a:t>Caveats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9A61FE7-9356-4D74-8E70-2718C9D9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124450"/>
            <a:ext cx="4267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Coverage varies by year. Weather delay is assumed. 2014 is partial. The 2024 test was previously inspected.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6EF68BA-E40C-4CDA-896A-0A199F5F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2636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361"/>
                </a:solidFill>
                <a:latin typeface="Arial"/>
                <a:ea typeface="Arial"/>
                <a:cs typeface="Arial"/>
              </a:rPr>
              <a:t>Sources: EAGLE-I (Figshare)  |  Iowa Environmental Mesonet ASOS</a:t>
            </a:r>
          </a:p>
        </p:txBody>
      </p:sp>
    </p:spTree>
    <p:extLst>
      <p:ext uri="{BB962C8B-B14F-4D97-AF65-F5344CB8AC3E}">
        <p14:creationId xmlns:p14="http://schemas.microsoft.com/office/powerpoint/2010/main" val="5893132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2026-10-16T16:50:46.2390000Z</dcterms:created>
  <dcterms:modified xsi:type="dcterms:W3CDTF">2026-10-16T16:50:46.2390000Z</dcterms:modified>
</coreProperties>
</file>